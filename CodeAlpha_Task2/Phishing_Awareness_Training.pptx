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5.png" ContentType="image/png"/>
  <Override PartName="/ppt/media/image6.png" ContentType="image/png"/>
  <Override PartName="/ppt/media/image14.png" ContentType="image/png"/>
  <Override PartName="/ppt/media/image5.png" ContentType="image/png"/>
  <Override PartName="/ppt/media/image21.png" ContentType="image/png"/>
  <Override PartName="/ppt/media/image19.png" ContentType="image/png"/>
  <Override PartName="/ppt/media/image10.png" ContentType="image/png"/>
  <Override PartName="/ppt/media/image1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2098B5E-D7FF-4E4C-8459-54A7BD85CEB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8ECEF4-38BC-4079-B820-987824FEB9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125AD4-8EB3-4EB6-AE0B-49466037F6D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32E29C-6E81-48B5-A869-F8FB7D0CB06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227B4C-266D-456D-851A-690F1DA53FD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67F82B-5A2C-470F-ADB8-82A39313C07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70BE93-BE8A-4DAA-B099-3123BCB24E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275B06-33A9-4EC3-B02E-F2DF4D30BD6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882262-8895-42F2-BA58-80E9F0DCAAE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5E63F4-C505-40E0-B35D-C4C0249EE58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0ABD98-8EEC-4B6F-8F3F-1B20C6AC124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9.png"/><Relationship Id="rId9" Type="http://schemas.openxmlformats.org/officeDocument/2006/relationships/image" Target="../media/image12.png"/><Relationship Id="rId10" Type="http://schemas.openxmlformats.org/officeDocument/2006/relationships/image" Target="../media/image7.png"/><Relationship Id="rId11" Type="http://schemas.openxmlformats.org/officeDocument/2006/relationships/image" Target="../media/image13.png"/><Relationship Id="rId12" Type="http://schemas.openxmlformats.org/officeDocument/2006/relationships/image" Target="../media/image9.png"/><Relationship Id="rId13" Type="http://schemas.openxmlformats.org/officeDocument/2006/relationships/image" Target="../media/image1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7.png"/><Relationship Id="rId7" Type="http://schemas.openxmlformats.org/officeDocument/2006/relationships/image" Target="../media/image17.png"/><Relationship Id="rId8" Type="http://schemas.openxmlformats.org/officeDocument/2006/relationships/image" Target="../media/image7.png"/><Relationship Id="rId9" Type="http://schemas.openxmlformats.org/officeDocument/2006/relationships/image" Target="../media/image18.png"/><Relationship Id="rId10" Type="http://schemas.openxmlformats.org/officeDocument/2006/relationships/image" Target="../media/image7.png"/><Relationship Id="rId11" Type="http://schemas.openxmlformats.org/officeDocument/2006/relationships/image" Target="../media/image19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9.png"/><Relationship Id="rId7" Type="http://schemas.openxmlformats.org/officeDocument/2006/relationships/image" Target="../media/image20.png"/><Relationship Id="rId8" Type="http://schemas.openxmlformats.org/officeDocument/2006/relationships/image" Target="../media/image9.png"/><Relationship Id="rId9" Type="http://schemas.openxmlformats.org/officeDocument/2006/relationships/image" Target="../media/image21.png"/><Relationship Id="rId10" Type="http://schemas.openxmlformats.org/officeDocument/2006/relationships/image" Target="../media/image9.png"/><Relationship Id="rId11" Type="http://schemas.openxmlformats.org/officeDocument/2006/relationships/image" Target="../media/image17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22.png"/><Relationship Id="rId8" Type="http://schemas.openxmlformats.org/officeDocument/2006/relationships/image" Target="../media/image7.png"/><Relationship Id="rId9" Type="http://schemas.openxmlformats.org/officeDocument/2006/relationships/image" Target="../media/image15.png"/><Relationship Id="rId10" Type="http://schemas.openxmlformats.org/officeDocument/2006/relationships/image" Target="../media/image7.png"/><Relationship Id="rId11" Type="http://schemas.openxmlformats.org/officeDocument/2006/relationships/image" Target="../media/image23.png"/><Relationship Id="rId12" Type="http://schemas.openxmlformats.org/officeDocument/2006/relationships/image" Target="../media/image7.png"/><Relationship Id="rId13" Type="http://schemas.openxmlformats.org/officeDocument/2006/relationships/image" Target="../media/image2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5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9.png"/><Relationship Id="rId7" Type="http://schemas.openxmlformats.org/officeDocument/2006/relationships/image" Target="../media/image17.png"/><Relationship Id="rId8" Type="http://schemas.openxmlformats.org/officeDocument/2006/relationships/image" Target="../media/image9.png"/><Relationship Id="rId9" Type="http://schemas.openxmlformats.org/officeDocument/2006/relationships/image" Target="../media/image26.png"/><Relationship Id="rId10" Type="http://schemas.openxmlformats.org/officeDocument/2006/relationships/image" Target="../media/image9.png"/><Relationship Id="rId11" Type="http://schemas.openxmlformats.org/officeDocument/2006/relationships/image" Target="../media/image27.png"/><Relationship Id="rId12" Type="http://schemas.openxmlformats.org/officeDocument/2006/relationships/image" Target="../media/image9.png"/><Relationship Id="rId13" Type="http://schemas.openxmlformats.org/officeDocument/2006/relationships/image" Target="../media/image21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assets/bg_dark.png"/>
          <p:cNvPicPr/>
          <p:nvPr/>
        </p:nvPicPr>
        <p:blipFill>
          <a:blip r:embed="rId1"/>
          <a:stretch/>
        </p:blipFill>
        <p:spPr>
          <a:xfrm>
            <a:off x="-7560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548640" y="36576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7cce8"/>
                </a:solidFill>
                <a:latin typeface="Calibri"/>
                <a:ea typeface="Calibri"/>
              </a:rPr>
              <a:t>CodeAlpha CyberSecurity Internship  ·  Task 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5605200" y="365760"/>
            <a:ext cx="6034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7cce8"/>
                </a:solidFill>
                <a:latin typeface="Calibri"/>
                <a:ea typeface="Calibri"/>
              </a:rPr>
              <a:t>Prepared by Kamil Hasanli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548640" y="1417320"/>
            <a:ext cx="11091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97" strike="noStrike">
                <a:solidFill>
                  <a:srgbClr val="ffffff"/>
                </a:solidFill>
                <a:latin typeface="Arial"/>
                <a:ea typeface="Arial"/>
              </a:rPr>
              <a:t>PHISHING AWARENESS TRAINING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1463040" y="2514600"/>
            <a:ext cx="926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7cce8"/>
                </a:solidFill>
                <a:latin typeface="Calibri"/>
                <a:ea typeface="Calibri"/>
              </a:rPr>
              <a:t>Recognizing deception, defeating social engineering, and protecting your inbox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6007320" y="3311280"/>
            <a:ext cx="18072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" name="" descr=""/>
          <p:cNvPicPr/>
          <p:nvPr/>
        </p:nvPicPr>
        <p:blipFill>
          <a:blip r:embed="rId2"/>
          <a:stretch/>
        </p:blipFill>
        <p:spPr>
          <a:xfrm rot="21595200">
            <a:off x="2875680" y="3003120"/>
            <a:ext cx="6136920" cy="3632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assets/bg_dark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8" name="Text 0"/>
          <p:cNvSpPr/>
          <p:nvPr/>
        </p:nvSpPr>
        <p:spPr>
          <a:xfrm>
            <a:off x="0" y="411480"/>
            <a:ext cx="12191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Arial"/>
                <a:ea typeface="Arial"/>
              </a:rPr>
              <a:t>Walkthrough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548640" y="1417320"/>
            <a:ext cx="5120280" cy="511560"/>
          </a:xfrm>
          <a:prstGeom prst="roundRect">
            <a:avLst>
              <a:gd name="adj" fmla="val 12500"/>
            </a:avLst>
          </a:prstGeom>
          <a:solidFill>
            <a:srgbClr val="12163a"/>
          </a:solidFill>
          <a:ln w="2556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777240" y="1417320"/>
            <a:ext cx="4754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1. What is phishing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3"/>
          <p:cNvSpPr/>
          <p:nvPr/>
        </p:nvSpPr>
        <p:spPr>
          <a:xfrm>
            <a:off x="548640" y="2030040"/>
            <a:ext cx="5120280" cy="511560"/>
          </a:xfrm>
          <a:prstGeom prst="roundRect">
            <a:avLst>
              <a:gd name="adj" fmla="val 12500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777240" y="2030040"/>
            <a:ext cx="4754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2. Types of attacks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548640" y="2642760"/>
            <a:ext cx="5120280" cy="511560"/>
          </a:xfrm>
          <a:prstGeom prst="roundRect">
            <a:avLst>
              <a:gd name="adj" fmla="val 12500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777240" y="2642760"/>
            <a:ext cx="4754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3. Spotting fake emails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548640" y="3255120"/>
            <a:ext cx="5120280" cy="511560"/>
          </a:xfrm>
          <a:prstGeom prst="roundRect">
            <a:avLst>
              <a:gd name="adj" fmla="val 12500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777240" y="3255120"/>
            <a:ext cx="4754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4. Spotting fake websites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9"/>
          <p:cNvSpPr/>
          <p:nvPr/>
        </p:nvSpPr>
        <p:spPr>
          <a:xfrm>
            <a:off x="548640" y="3867840"/>
            <a:ext cx="5120280" cy="511560"/>
          </a:xfrm>
          <a:prstGeom prst="roundRect">
            <a:avLst>
              <a:gd name="adj" fmla="val 12500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0"/>
          <p:cNvSpPr/>
          <p:nvPr/>
        </p:nvSpPr>
        <p:spPr>
          <a:xfrm>
            <a:off x="777240" y="3867840"/>
            <a:ext cx="4754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5. Social engineering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1"/>
          <p:cNvSpPr/>
          <p:nvPr/>
        </p:nvSpPr>
        <p:spPr>
          <a:xfrm>
            <a:off x="548640" y="4480560"/>
            <a:ext cx="5120280" cy="511560"/>
          </a:xfrm>
          <a:prstGeom prst="roundRect">
            <a:avLst>
              <a:gd name="adj" fmla="val 12500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777240" y="4480560"/>
            <a:ext cx="4754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6. Real-world case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13"/>
          <p:cNvSpPr/>
          <p:nvPr/>
        </p:nvSpPr>
        <p:spPr>
          <a:xfrm>
            <a:off x="548640" y="5093280"/>
            <a:ext cx="5120280" cy="511560"/>
          </a:xfrm>
          <a:prstGeom prst="roundRect">
            <a:avLst>
              <a:gd name="adj" fmla="val 12500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4"/>
          <p:cNvSpPr/>
          <p:nvPr/>
        </p:nvSpPr>
        <p:spPr>
          <a:xfrm>
            <a:off x="777240" y="5093280"/>
            <a:ext cx="4754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7. Best practices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5"/>
          <p:cNvSpPr/>
          <p:nvPr/>
        </p:nvSpPr>
        <p:spPr>
          <a:xfrm>
            <a:off x="548640" y="5706000"/>
            <a:ext cx="5120280" cy="511560"/>
          </a:xfrm>
          <a:prstGeom prst="roundRect">
            <a:avLst>
              <a:gd name="adj" fmla="val 12500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777240" y="5706000"/>
            <a:ext cx="47545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8. Quiz &amp; recap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" name="Image 1" descr="assets/hook_triangle.png"/>
          <p:cNvPicPr/>
          <p:nvPr/>
        </p:nvPicPr>
        <p:blipFill>
          <a:blip r:embed="rId2"/>
          <a:stretch/>
        </p:blipFill>
        <p:spPr>
          <a:xfrm>
            <a:off x="6263640" y="1417320"/>
            <a:ext cx="5348880" cy="448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0" descr="assets/bg_dark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37" name="Shape 0"/>
          <p:cNvSpPr/>
          <p:nvPr/>
        </p:nvSpPr>
        <p:spPr>
          <a:xfrm>
            <a:off x="502920" y="502920"/>
            <a:ext cx="4160160" cy="1371240"/>
          </a:xfrm>
          <a:prstGeom prst="roundRect">
            <a:avLst>
              <a:gd name="adj" fmla="val 4000"/>
            </a:avLst>
          </a:prstGeom>
          <a:solidFill>
            <a:srgbClr val="12163a"/>
          </a:solidFill>
          <a:ln w="2556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685800" y="502920"/>
            <a:ext cx="37944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Arial"/>
                <a:ea typeface="Arial"/>
              </a:rPr>
              <a:t>WHAT IS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Arial"/>
                <a:ea typeface="Arial"/>
              </a:rPr>
              <a:t>PHISHING ?!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4892040" y="502920"/>
            <a:ext cx="6766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Calibri"/>
                <a:ea typeface="Calibri"/>
              </a:rPr>
              <a:t>Phishing </a:t>
            </a:r>
            <a:r>
              <a:rPr b="0" lang="en-US" sz="1450" spc="-1" strike="noStrike">
                <a:solidFill>
                  <a:srgbClr val="c7cce8"/>
                </a:solidFill>
                <a:latin typeface="Calibri"/>
                <a:ea typeface="Calibri"/>
              </a:rPr>
              <a:t>is a cyberattack that uses fraudulent messages — usually email — to trick people into revealing sensitive information, clicking malicious links, or installing malware.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" name="Image 1" descr="assets/stat_card.png"/>
          <p:cNvPicPr/>
          <p:nvPr/>
        </p:nvPicPr>
        <p:blipFill>
          <a:blip r:embed="rId2"/>
          <a:stretch/>
        </p:blipFill>
        <p:spPr>
          <a:xfrm>
            <a:off x="4892040" y="2148840"/>
            <a:ext cx="2102760" cy="1234080"/>
          </a:xfrm>
          <a:prstGeom prst="rect">
            <a:avLst/>
          </a:prstGeom>
          <a:ln w="0">
            <a:noFill/>
          </a:ln>
        </p:spPr>
      </p:pic>
      <p:sp>
        <p:nvSpPr>
          <p:cNvPr id="41" name="Text 3"/>
          <p:cNvSpPr/>
          <p:nvPr/>
        </p:nvSpPr>
        <p:spPr>
          <a:xfrm>
            <a:off x="5056560" y="226764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6fa3"/>
                </a:solidFill>
                <a:latin typeface="Arial"/>
                <a:ea typeface="Arial"/>
              </a:rPr>
              <a:t>91%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5056560" y="2743200"/>
            <a:ext cx="1782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of cyberattacks start with a phishing email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" name="Image 2" descr="assets/stat_card.png"/>
          <p:cNvPicPr/>
          <p:nvPr/>
        </p:nvPicPr>
        <p:blipFill>
          <a:blip r:embed="rId3"/>
          <a:stretch/>
        </p:blipFill>
        <p:spPr>
          <a:xfrm>
            <a:off x="7223760" y="2148840"/>
            <a:ext cx="2102760" cy="1234080"/>
          </a:xfrm>
          <a:prstGeom prst="rect">
            <a:avLst/>
          </a:prstGeom>
          <a:ln w="0">
            <a:noFill/>
          </a:ln>
        </p:spPr>
      </p:pic>
      <p:sp>
        <p:nvSpPr>
          <p:cNvPr id="44" name="Text 5"/>
          <p:cNvSpPr/>
          <p:nvPr/>
        </p:nvSpPr>
        <p:spPr>
          <a:xfrm>
            <a:off x="7388280" y="226764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6fa3"/>
                </a:solidFill>
                <a:latin typeface="Arial"/>
                <a:ea typeface="Arial"/>
              </a:rPr>
              <a:t>3.4B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6"/>
          <p:cNvSpPr/>
          <p:nvPr/>
        </p:nvSpPr>
        <p:spPr>
          <a:xfrm>
            <a:off x="7388280" y="2743200"/>
            <a:ext cx="1782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phishing emails sent worldwide every day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" name="Image 3" descr="assets/stat_card.png"/>
          <p:cNvPicPr/>
          <p:nvPr/>
        </p:nvPicPr>
        <p:blipFill>
          <a:blip r:embed="rId4"/>
          <a:stretch/>
        </p:blipFill>
        <p:spPr>
          <a:xfrm>
            <a:off x="9555480" y="2148840"/>
            <a:ext cx="2102760" cy="1234080"/>
          </a:xfrm>
          <a:prstGeom prst="rect">
            <a:avLst/>
          </a:prstGeom>
          <a:ln w="0">
            <a:noFill/>
          </a:ln>
        </p:spPr>
      </p:pic>
      <p:sp>
        <p:nvSpPr>
          <p:cNvPr id="47" name="Text 7"/>
          <p:cNvSpPr/>
          <p:nvPr/>
        </p:nvSpPr>
        <p:spPr>
          <a:xfrm>
            <a:off x="9720000" y="226764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6fa3"/>
                </a:solidFill>
                <a:latin typeface="Arial"/>
                <a:ea typeface="Arial"/>
              </a:rPr>
              <a:t>$4.9M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9720000" y="2743200"/>
            <a:ext cx="1782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average cost of a phishing-related breach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" name="Image 4" descr="assets/phone_hook.png"/>
          <p:cNvPicPr/>
          <p:nvPr/>
        </p:nvPicPr>
        <p:blipFill>
          <a:blip r:embed="rId5"/>
          <a:stretch/>
        </p:blipFill>
        <p:spPr>
          <a:xfrm>
            <a:off x="502920" y="3246120"/>
            <a:ext cx="2742840" cy="2907360"/>
          </a:xfrm>
          <a:prstGeom prst="rect">
            <a:avLst/>
          </a:prstGeom>
          <a:ln w="0">
            <a:noFill/>
          </a:ln>
        </p:spPr>
      </p:pic>
      <p:sp>
        <p:nvSpPr>
          <p:cNvPr id="50" name="Text 9"/>
          <p:cNvSpPr/>
          <p:nvPr/>
        </p:nvSpPr>
        <p:spPr>
          <a:xfrm>
            <a:off x="4892040" y="3703320"/>
            <a:ext cx="4571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Why it works?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4892040" y="418788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2e7e"/>
                </a:solidFill>
                <a:latin typeface="Calibri"/>
                <a:ea typeface="Calibri"/>
              </a:rPr>
              <a:t>❯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1"/>
          <p:cNvSpPr/>
          <p:nvPr/>
        </p:nvSpPr>
        <p:spPr>
          <a:xfrm>
            <a:off x="5230440" y="4187880"/>
            <a:ext cx="6309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7cce8"/>
                </a:solidFill>
                <a:latin typeface="Calibri"/>
                <a:ea typeface="Calibri"/>
              </a:rPr>
              <a:t>Exploits trust in familiar brands, colleagues, or authority figures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2"/>
          <p:cNvSpPr/>
          <p:nvPr/>
        </p:nvSpPr>
        <p:spPr>
          <a:xfrm>
            <a:off x="4892040" y="466344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2e7e"/>
                </a:solidFill>
                <a:latin typeface="Calibri"/>
                <a:ea typeface="Calibri"/>
              </a:rPr>
              <a:t>❯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5230440" y="4663440"/>
            <a:ext cx="6309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7cce8"/>
                </a:solidFill>
                <a:latin typeface="Calibri"/>
                <a:ea typeface="Calibri"/>
              </a:rPr>
              <a:t>Creates urgency so victims act before they think critically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4"/>
          <p:cNvSpPr/>
          <p:nvPr/>
        </p:nvSpPr>
        <p:spPr>
          <a:xfrm>
            <a:off x="4892040" y="5139000"/>
            <a:ext cx="319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2e7e"/>
                </a:solidFill>
                <a:latin typeface="Calibri"/>
                <a:ea typeface="Calibri"/>
              </a:rPr>
              <a:t>❯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5"/>
          <p:cNvSpPr/>
          <p:nvPr/>
        </p:nvSpPr>
        <p:spPr>
          <a:xfrm>
            <a:off x="5230440" y="5139000"/>
            <a:ext cx="6309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c7cce8"/>
                </a:solidFill>
                <a:latin typeface="Calibri"/>
                <a:ea typeface="Calibri"/>
              </a:rPr>
              <a:t>Looks nearly identical to legitimate communication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7" name="" descr=""/>
          <p:cNvPicPr/>
          <p:nvPr/>
        </p:nvPicPr>
        <p:blipFill>
          <a:blip r:embed="rId6"/>
          <a:stretch/>
        </p:blipFill>
        <p:spPr>
          <a:xfrm>
            <a:off x="0" y="2965680"/>
            <a:ext cx="4114800" cy="3389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 0" descr="assets/bg_dark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59" name="Text 0"/>
          <p:cNvSpPr/>
          <p:nvPr/>
        </p:nvSpPr>
        <p:spPr>
          <a:xfrm>
            <a:off x="548640" y="45720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Arial"/>
                <a:ea typeface="Arial"/>
              </a:rPr>
              <a:t>TYPES OF PHISHING ATTACKS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548640" y="98748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7a82b0"/>
                </a:solidFill>
                <a:latin typeface="Calibri"/>
                <a:ea typeface="Calibri"/>
              </a:rPr>
              <a:t>Attackers adapt their channel and target to maximize success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548640" y="1536120"/>
            <a:ext cx="3520080" cy="2102760"/>
          </a:xfrm>
          <a:prstGeom prst="roundRect">
            <a:avLst>
              <a:gd name="adj" fmla="val 3913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" name="Image 1" descr="assets/glow_pink_purple.png"/>
          <p:cNvPicPr/>
          <p:nvPr/>
        </p:nvPicPr>
        <p:blipFill>
          <a:blip r:embed="rId2"/>
          <a:stretch/>
        </p:blipFill>
        <p:spPr>
          <a:xfrm>
            <a:off x="786240" y="1774080"/>
            <a:ext cx="548280" cy="548280"/>
          </a:xfrm>
          <a:prstGeom prst="rect">
            <a:avLst/>
          </a:prstGeom>
          <a:ln w="0">
            <a:noFill/>
          </a:ln>
        </p:spPr>
      </p:pic>
      <p:pic>
        <p:nvPicPr>
          <p:cNvPr id="63" name="Image 2" descr="icons/mail.png"/>
          <p:cNvPicPr/>
          <p:nvPr/>
        </p:nvPicPr>
        <p:blipFill>
          <a:blip r:embed="rId3"/>
          <a:stretch/>
        </p:blipFill>
        <p:spPr>
          <a:xfrm>
            <a:off x="914400" y="19018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64" name="Text 3"/>
          <p:cNvSpPr/>
          <p:nvPr/>
        </p:nvSpPr>
        <p:spPr>
          <a:xfrm>
            <a:off x="786240" y="245052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Email Phishing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786240" y="279792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82b0"/>
                </a:solidFill>
                <a:latin typeface="Calibri"/>
                <a:ea typeface="Calibri"/>
              </a:rPr>
              <a:t>Mass, generic fraudulent emails impersonating banks, vendors, or services.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5"/>
          <p:cNvSpPr/>
          <p:nvPr/>
        </p:nvSpPr>
        <p:spPr>
          <a:xfrm>
            <a:off x="4325040" y="1536120"/>
            <a:ext cx="3520080" cy="2102760"/>
          </a:xfrm>
          <a:prstGeom prst="roundRect">
            <a:avLst>
              <a:gd name="adj" fmla="val 3913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7" name="Image 3" descr="assets/glow_purple_blue.png"/>
          <p:cNvPicPr/>
          <p:nvPr/>
        </p:nvPicPr>
        <p:blipFill>
          <a:blip r:embed="rId4"/>
          <a:stretch/>
        </p:blipFill>
        <p:spPr>
          <a:xfrm>
            <a:off x="4563000" y="1774080"/>
            <a:ext cx="548280" cy="548280"/>
          </a:xfrm>
          <a:prstGeom prst="rect">
            <a:avLst/>
          </a:prstGeom>
          <a:ln w="0">
            <a:noFill/>
          </a:ln>
        </p:spPr>
      </p:pic>
      <p:pic>
        <p:nvPicPr>
          <p:cNvPr id="68" name="Image 4" descr="icons/target.png"/>
          <p:cNvPicPr/>
          <p:nvPr/>
        </p:nvPicPr>
        <p:blipFill>
          <a:blip r:embed="rId5"/>
          <a:stretch/>
        </p:blipFill>
        <p:spPr>
          <a:xfrm>
            <a:off x="4690800" y="19018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69" name="Text 6"/>
          <p:cNvSpPr/>
          <p:nvPr/>
        </p:nvSpPr>
        <p:spPr>
          <a:xfrm>
            <a:off x="4563000" y="245052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Spear Phishing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4563000" y="279792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82b0"/>
                </a:solidFill>
                <a:latin typeface="Calibri"/>
                <a:ea typeface="Calibri"/>
              </a:rPr>
              <a:t>Highly targeted messages personalized using research on a specific victim.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8"/>
          <p:cNvSpPr/>
          <p:nvPr/>
        </p:nvSpPr>
        <p:spPr>
          <a:xfrm>
            <a:off x="8101440" y="1536120"/>
            <a:ext cx="3520080" cy="2102760"/>
          </a:xfrm>
          <a:prstGeom prst="roundRect">
            <a:avLst>
              <a:gd name="adj" fmla="val 3913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2" name="Image 5" descr="assets/glow_pink_purple.png"/>
          <p:cNvPicPr/>
          <p:nvPr/>
        </p:nvPicPr>
        <p:blipFill>
          <a:blip r:embed="rId6"/>
          <a:stretch/>
        </p:blipFill>
        <p:spPr>
          <a:xfrm>
            <a:off x="8339400" y="1774080"/>
            <a:ext cx="548280" cy="548280"/>
          </a:xfrm>
          <a:prstGeom prst="rect">
            <a:avLst/>
          </a:prstGeom>
          <a:ln w="0">
            <a:noFill/>
          </a:ln>
        </p:spPr>
      </p:pic>
      <p:pic>
        <p:nvPicPr>
          <p:cNvPr id="73" name="Image 6" descr="icons/usercheck.png"/>
          <p:cNvPicPr/>
          <p:nvPr/>
        </p:nvPicPr>
        <p:blipFill>
          <a:blip r:embed="rId7"/>
          <a:stretch/>
        </p:blipFill>
        <p:spPr>
          <a:xfrm>
            <a:off x="8467200" y="19018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74" name="Text 9"/>
          <p:cNvSpPr/>
          <p:nvPr/>
        </p:nvSpPr>
        <p:spPr>
          <a:xfrm>
            <a:off x="8339400" y="245052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Whaling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0"/>
          <p:cNvSpPr/>
          <p:nvPr/>
        </p:nvSpPr>
        <p:spPr>
          <a:xfrm>
            <a:off x="8339400" y="279792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82b0"/>
                </a:solidFill>
                <a:latin typeface="Calibri"/>
                <a:ea typeface="Calibri"/>
              </a:rPr>
              <a:t>Spear phishing aimed at executives or high-value targets like CFOs and CEOs.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11"/>
          <p:cNvSpPr/>
          <p:nvPr/>
        </p:nvSpPr>
        <p:spPr>
          <a:xfrm>
            <a:off x="548640" y="3840480"/>
            <a:ext cx="3520080" cy="2102760"/>
          </a:xfrm>
          <a:prstGeom prst="roundRect">
            <a:avLst>
              <a:gd name="adj" fmla="val 3913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" name="Image 7" descr="assets/glow_purple_blue.png"/>
          <p:cNvPicPr/>
          <p:nvPr/>
        </p:nvPicPr>
        <p:blipFill>
          <a:blip r:embed="rId8"/>
          <a:stretch/>
        </p:blipFill>
        <p:spPr>
          <a:xfrm>
            <a:off x="786240" y="4078080"/>
            <a:ext cx="548280" cy="548280"/>
          </a:xfrm>
          <a:prstGeom prst="rect">
            <a:avLst/>
          </a:prstGeom>
          <a:ln w="0">
            <a:noFill/>
          </a:ln>
        </p:spPr>
      </p:pic>
      <p:pic>
        <p:nvPicPr>
          <p:cNvPr id="78" name="Image 8" descr="icons/phone.png"/>
          <p:cNvPicPr/>
          <p:nvPr/>
        </p:nvPicPr>
        <p:blipFill>
          <a:blip r:embed="rId9"/>
          <a:stretch/>
        </p:blipFill>
        <p:spPr>
          <a:xfrm>
            <a:off x="914400" y="42062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79" name="Text 12"/>
          <p:cNvSpPr/>
          <p:nvPr/>
        </p:nvSpPr>
        <p:spPr>
          <a:xfrm>
            <a:off x="786240" y="47548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Smishing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13"/>
          <p:cNvSpPr/>
          <p:nvPr/>
        </p:nvSpPr>
        <p:spPr>
          <a:xfrm>
            <a:off x="786240" y="510228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82b0"/>
                </a:solidFill>
                <a:latin typeface="Calibri"/>
                <a:ea typeface="Calibri"/>
              </a:rPr>
              <a:t>Phishing delivered via SMS text messages with malicious links.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14"/>
          <p:cNvSpPr/>
          <p:nvPr/>
        </p:nvSpPr>
        <p:spPr>
          <a:xfrm>
            <a:off x="4325040" y="3840480"/>
            <a:ext cx="3520080" cy="2102760"/>
          </a:xfrm>
          <a:prstGeom prst="roundRect">
            <a:avLst>
              <a:gd name="adj" fmla="val 3913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2" name="Image 9" descr="assets/glow_pink_purple.png"/>
          <p:cNvPicPr/>
          <p:nvPr/>
        </p:nvPicPr>
        <p:blipFill>
          <a:blip r:embed="rId10"/>
          <a:stretch/>
        </p:blipFill>
        <p:spPr>
          <a:xfrm>
            <a:off x="4563000" y="4078080"/>
            <a:ext cx="548280" cy="548280"/>
          </a:xfrm>
          <a:prstGeom prst="rect">
            <a:avLst/>
          </a:prstGeom>
          <a:ln w="0">
            <a:noFill/>
          </a:ln>
        </p:spPr>
      </p:pic>
      <p:pic>
        <p:nvPicPr>
          <p:cNvPr id="83" name="Image 10" descr="icons/call.png"/>
          <p:cNvPicPr/>
          <p:nvPr/>
        </p:nvPicPr>
        <p:blipFill>
          <a:blip r:embed="rId11"/>
          <a:stretch/>
        </p:blipFill>
        <p:spPr>
          <a:xfrm>
            <a:off x="4690800" y="42062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84" name="Text 15"/>
          <p:cNvSpPr/>
          <p:nvPr/>
        </p:nvSpPr>
        <p:spPr>
          <a:xfrm>
            <a:off x="4563000" y="47548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Vishing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4563000" y="510228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82b0"/>
                </a:solidFill>
                <a:latin typeface="Calibri"/>
                <a:ea typeface="Calibri"/>
              </a:rPr>
              <a:t>Voice phishing — fraudulent phone calls impersonating support or officials.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17"/>
          <p:cNvSpPr/>
          <p:nvPr/>
        </p:nvSpPr>
        <p:spPr>
          <a:xfrm>
            <a:off x="8101440" y="3840480"/>
            <a:ext cx="3520080" cy="2102760"/>
          </a:xfrm>
          <a:prstGeom prst="roundRect">
            <a:avLst>
              <a:gd name="adj" fmla="val 3913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7" name="Image 11" descr="assets/glow_purple_blue.png"/>
          <p:cNvPicPr/>
          <p:nvPr/>
        </p:nvPicPr>
        <p:blipFill>
          <a:blip r:embed="rId12"/>
          <a:stretch/>
        </p:blipFill>
        <p:spPr>
          <a:xfrm>
            <a:off x="8339400" y="4078080"/>
            <a:ext cx="548280" cy="548280"/>
          </a:xfrm>
          <a:prstGeom prst="rect">
            <a:avLst/>
          </a:prstGeom>
          <a:ln w="0">
            <a:noFill/>
          </a:ln>
        </p:spPr>
      </p:pic>
      <p:pic>
        <p:nvPicPr>
          <p:cNvPr id="88" name="Image 12" descr="icons/globe.png"/>
          <p:cNvPicPr/>
          <p:nvPr/>
        </p:nvPicPr>
        <p:blipFill>
          <a:blip r:embed="rId13"/>
          <a:stretch/>
        </p:blipFill>
        <p:spPr>
          <a:xfrm>
            <a:off x="8467200" y="42062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89" name="Text 18"/>
          <p:cNvSpPr/>
          <p:nvPr/>
        </p:nvSpPr>
        <p:spPr>
          <a:xfrm>
            <a:off x="8339400" y="47548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Clone Phishing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19"/>
          <p:cNvSpPr/>
          <p:nvPr/>
        </p:nvSpPr>
        <p:spPr>
          <a:xfrm>
            <a:off x="8339400" y="510228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82b0"/>
                </a:solidFill>
                <a:latin typeface="Calibri"/>
                <a:ea typeface="Calibri"/>
              </a:rPr>
              <a:t>A legitimate email is copied and resent with a malicious link swapped in.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 0" descr="assets/bg_dark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92" name="Text 0"/>
          <p:cNvSpPr/>
          <p:nvPr/>
        </p:nvSpPr>
        <p:spPr>
          <a:xfrm>
            <a:off x="548640" y="45720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Arial"/>
                <a:ea typeface="Arial"/>
              </a:rPr>
              <a:t>HOW TO RECOGNIZE PHISHING EMAILS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548640" y="98748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7a82b0"/>
                </a:solidFill>
                <a:latin typeface="Calibri"/>
                <a:ea typeface="Calibri"/>
              </a:rPr>
              <a:t>Five warning signs that appear in almost every phishing attempt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2"/>
          <p:cNvSpPr/>
          <p:nvPr/>
        </p:nvSpPr>
        <p:spPr>
          <a:xfrm>
            <a:off x="6675120" y="1554480"/>
            <a:ext cx="4937400" cy="4617360"/>
          </a:xfrm>
          <a:prstGeom prst="roundRect">
            <a:avLst>
              <a:gd name="adj" fmla="val 1584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3"/>
          <p:cNvSpPr/>
          <p:nvPr/>
        </p:nvSpPr>
        <p:spPr>
          <a:xfrm>
            <a:off x="6675120" y="1554480"/>
            <a:ext cx="4937400" cy="456840"/>
          </a:xfrm>
          <a:prstGeom prst="roundRect">
            <a:avLst>
              <a:gd name="adj" fmla="val 16667"/>
            </a:avLst>
          </a:prstGeom>
          <a:solidFill>
            <a:srgbClr val="090c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4"/>
          <p:cNvSpPr/>
          <p:nvPr/>
        </p:nvSpPr>
        <p:spPr>
          <a:xfrm>
            <a:off x="6858000" y="1719000"/>
            <a:ext cx="127800" cy="127800"/>
          </a:xfrm>
          <a:prstGeom prst="ellipse">
            <a:avLst/>
          </a:prstGeom>
          <a:solidFill>
            <a:srgbClr val="ff3e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hape 5"/>
          <p:cNvSpPr/>
          <p:nvPr/>
        </p:nvSpPr>
        <p:spPr>
          <a:xfrm>
            <a:off x="7077600" y="1719000"/>
            <a:ext cx="127800" cy="127800"/>
          </a:xfrm>
          <a:prstGeom prst="ellipse">
            <a:avLst/>
          </a:prstGeom>
          <a:solidFill>
            <a:srgbClr val="f0b42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6"/>
          <p:cNvSpPr/>
          <p:nvPr/>
        </p:nvSpPr>
        <p:spPr>
          <a:xfrm>
            <a:off x="7296840" y="1719000"/>
            <a:ext cx="127800" cy="127800"/>
          </a:xfrm>
          <a:prstGeom prst="ellipse">
            <a:avLst/>
          </a:prstGeom>
          <a:solidFill>
            <a:srgbClr val="2ed8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6903720" y="217620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7a82b0"/>
                </a:solidFill>
                <a:latin typeface="Calibri"/>
                <a:ea typeface="Calibri"/>
              </a:rPr>
              <a:t>From: </a:t>
            </a:r>
            <a:r>
              <a:rPr b="1" lang="en-US" sz="1200" spc="-1" strike="noStrike">
                <a:solidFill>
                  <a:srgbClr val="ff6fa3"/>
                </a:solidFill>
                <a:latin typeface="Calibri"/>
                <a:ea typeface="Calibri"/>
              </a:rPr>
              <a:t>Support-Team@secure-paypa1.com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6903720" y="254196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7a82b0"/>
                </a:solidFill>
                <a:latin typeface="Calibri"/>
                <a:ea typeface="Calibri"/>
              </a:rPr>
              <a:t>Subject: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URGENT: Verify Your Account Now!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9"/>
          <p:cNvSpPr/>
          <p:nvPr/>
        </p:nvSpPr>
        <p:spPr>
          <a:xfrm>
            <a:off x="6903720" y="2953440"/>
            <a:ext cx="4480560" cy="360"/>
          </a:xfrm>
          <a:prstGeom prst="line">
            <a:avLst/>
          </a:prstGeom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6903720" y="3090600"/>
            <a:ext cx="448020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7cce8"/>
                </a:solidFill>
                <a:latin typeface="Calibri"/>
                <a:ea typeface="Calibri"/>
              </a:rPr>
              <a:t>Dear Valued Customer,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7cce8"/>
                </a:solidFill>
                <a:latin typeface="Calibri"/>
                <a:ea typeface="Calibri"/>
              </a:rPr>
              <a:t>We detected unusual activity. Your account will be suspended in 24 hours unless you confirm your details immediately.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7cce8"/>
                </a:solidFill>
                <a:latin typeface="Calibri"/>
                <a:ea typeface="Calibri"/>
              </a:rPr>
              <a:t>Click here to verify: http://paypa1-secure-login.net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7cce8"/>
                </a:solidFill>
                <a:latin typeface="Calibri"/>
                <a:ea typeface="Calibri"/>
              </a:rPr>
              <a:t>Thank you,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7cce8"/>
                </a:solidFill>
                <a:latin typeface="Calibri"/>
                <a:ea typeface="Calibri"/>
              </a:rPr>
              <a:t>The Security Team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3" name="Image 1" descr="assets/glow_pink_purple.png"/>
          <p:cNvPicPr/>
          <p:nvPr/>
        </p:nvPicPr>
        <p:blipFill>
          <a:blip r:embed="rId2"/>
          <a:stretch/>
        </p:blipFill>
        <p:spPr>
          <a:xfrm>
            <a:off x="548640" y="1572840"/>
            <a:ext cx="475200" cy="475200"/>
          </a:xfrm>
          <a:prstGeom prst="rect">
            <a:avLst/>
          </a:prstGeom>
          <a:ln w="0">
            <a:noFill/>
          </a:ln>
        </p:spPr>
      </p:pic>
      <p:pic>
        <p:nvPicPr>
          <p:cNvPr id="104" name="Image 2" descr="icons/alert.png"/>
          <p:cNvPicPr/>
          <p:nvPr/>
        </p:nvPicPr>
        <p:blipFill>
          <a:blip r:embed="rId3"/>
          <a:stretch/>
        </p:blipFill>
        <p:spPr>
          <a:xfrm>
            <a:off x="676800" y="16916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05" name="Text 11"/>
          <p:cNvSpPr/>
          <p:nvPr/>
        </p:nvSpPr>
        <p:spPr>
          <a:xfrm>
            <a:off x="1188720" y="154548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Arial"/>
                <a:ea typeface="Arial"/>
              </a:rPr>
              <a:t>Generic greeting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1188720" y="186552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7a82b0"/>
                </a:solidFill>
                <a:latin typeface="Calibri"/>
                <a:ea typeface="Calibri"/>
              </a:rPr>
              <a:t>"Dear Customer" instead of your real name.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7" name="Image 3" descr="assets/glow_pink_purple.png"/>
          <p:cNvPicPr/>
          <p:nvPr/>
        </p:nvPicPr>
        <p:blipFill>
          <a:blip r:embed="rId4"/>
          <a:stretch/>
        </p:blipFill>
        <p:spPr>
          <a:xfrm>
            <a:off x="548640" y="2432160"/>
            <a:ext cx="475200" cy="475200"/>
          </a:xfrm>
          <a:prstGeom prst="rect">
            <a:avLst/>
          </a:prstGeom>
          <a:ln w="0">
            <a:noFill/>
          </a:ln>
        </p:spPr>
      </p:pic>
      <p:pic>
        <p:nvPicPr>
          <p:cNvPr id="108" name="Image 4" descr="icons/clock.png"/>
          <p:cNvPicPr/>
          <p:nvPr/>
        </p:nvPicPr>
        <p:blipFill>
          <a:blip r:embed="rId5"/>
          <a:stretch/>
        </p:blipFill>
        <p:spPr>
          <a:xfrm>
            <a:off x="676800" y="255132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09" name="Text 13"/>
          <p:cNvSpPr/>
          <p:nvPr/>
        </p:nvSpPr>
        <p:spPr>
          <a:xfrm>
            <a:off x="1188720" y="240480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Arial"/>
                <a:ea typeface="Arial"/>
              </a:rPr>
              <a:t>False urgency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4"/>
          <p:cNvSpPr/>
          <p:nvPr/>
        </p:nvSpPr>
        <p:spPr>
          <a:xfrm>
            <a:off x="1188720" y="272484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7a82b0"/>
                </a:solidFill>
                <a:latin typeface="Calibri"/>
                <a:ea typeface="Calibri"/>
              </a:rPr>
              <a:t>Threats of suspension pressure quick action.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1" name="Image 5" descr="assets/glow_pink_purple.png"/>
          <p:cNvPicPr/>
          <p:nvPr/>
        </p:nvPicPr>
        <p:blipFill>
          <a:blip r:embed="rId6"/>
          <a:stretch/>
        </p:blipFill>
        <p:spPr>
          <a:xfrm>
            <a:off x="548640" y="3291840"/>
            <a:ext cx="475200" cy="475200"/>
          </a:xfrm>
          <a:prstGeom prst="rect">
            <a:avLst/>
          </a:prstGeom>
          <a:ln w="0">
            <a:noFill/>
          </a:ln>
        </p:spPr>
      </p:pic>
      <p:pic>
        <p:nvPicPr>
          <p:cNvPr id="112" name="Image 6" descr="icons/link.png"/>
          <p:cNvPicPr/>
          <p:nvPr/>
        </p:nvPicPr>
        <p:blipFill>
          <a:blip r:embed="rId7"/>
          <a:stretch/>
        </p:blipFill>
        <p:spPr>
          <a:xfrm>
            <a:off x="676800" y="34106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13" name="Text 15"/>
          <p:cNvSpPr/>
          <p:nvPr/>
        </p:nvSpPr>
        <p:spPr>
          <a:xfrm>
            <a:off x="1188720" y="326448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Arial"/>
                <a:ea typeface="Arial"/>
              </a:rPr>
              <a:t>Suspicious links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6"/>
          <p:cNvSpPr/>
          <p:nvPr/>
        </p:nvSpPr>
        <p:spPr>
          <a:xfrm>
            <a:off x="1188720" y="358452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7a82b0"/>
                </a:solidFill>
                <a:latin typeface="Calibri"/>
                <a:ea typeface="Calibri"/>
              </a:rPr>
              <a:t>Misspelled domains like "paypa1" instead of "paypal".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5" name="Image 7" descr="assets/glow_pink_purple.png"/>
          <p:cNvPicPr/>
          <p:nvPr/>
        </p:nvPicPr>
        <p:blipFill>
          <a:blip r:embed="rId8"/>
          <a:stretch/>
        </p:blipFill>
        <p:spPr>
          <a:xfrm>
            <a:off x="548640" y="4151520"/>
            <a:ext cx="475200" cy="475200"/>
          </a:xfrm>
          <a:prstGeom prst="rect">
            <a:avLst/>
          </a:prstGeom>
          <a:ln w="0">
            <a:noFill/>
          </a:ln>
        </p:spPr>
      </p:pic>
      <p:pic>
        <p:nvPicPr>
          <p:cNvPr id="116" name="Image 8" descr="icons/search.png"/>
          <p:cNvPicPr/>
          <p:nvPr/>
        </p:nvPicPr>
        <p:blipFill>
          <a:blip r:embed="rId9"/>
          <a:stretch/>
        </p:blipFill>
        <p:spPr>
          <a:xfrm>
            <a:off x="676800" y="427032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17" name="Text 17"/>
          <p:cNvSpPr/>
          <p:nvPr/>
        </p:nvSpPr>
        <p:spPr>
          <a:xfrm>
            <a:off x="1188720" y="412380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Arial"/>
                <a:ea typeface="Arial"/>
              </a:rPr>
              <a:t>Spoofed sender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8"/>
          <p:cNvSpPr/>
          <p:nvPr/>
        </p:nvSpPr>
        <p:spPr>
          <a:xfrm>
            <a:off x="1188720" y="444384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7a82b0"/>
                </a:solidFill>
                <a:latin typeface="Calibri"/>
                <a:ea typeface="Calibri"/>
              </a:rPr>
              <a:t>Display name looks real, but the domain doesn’t match.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9" name="Image 9" descr="assets/glow_pink_purple.png"/>
          <p:cNvPicPr/>
          <p:nvPr/>
        </p:nvPicPr>
        <p:blipFill>
          <a:blip r:embed="rId10"/>
          <a:stretch/>
        </p:blipFill>
        <p:spPr>
          <a:xfrm>
            <a:off x="548640" y="5010840"/>
            <a:ext cx="475200" cy="475200"/>
          </a:xfrm>
          <a:prstGeom prst="rect">
            <a:avLst/>
          </a:prstGeom>
          <a:ln w="0">
            <a:noFill/>
          </a:ln>
        </p:spPr>
      </p:pic>
      <p:pic>
        <p:nvPicPr>
          <p:cNvPr id="120" name="Image 10" descr="icons/octagon.png"/>
          <p:cNvPicPr/>
          <p:nvPr/>
        </p:nvPicPr>
        <p:blipFill>
          <a:blip r:embed="rId11"/>
          <a:stretch/>
        </p:blipFill>
        <p:spPr>
          <a:xfrm>
            <a:off x="676800" y="51296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21" name="Text 19"/>
          <p:cNvSpPr/>
          <p:nvPr/>
        </p:nvSpPr>
        <p:spPr>
          <a:xfrm>
            <a:off x="1188720" y="498348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Arial"/>
                <a:ea typeface="Arial"/>
              </a:rPr>
              <a:t>Odd requests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20"/>
          <p:cNvSpPr/>
          <p:nvPr/>
        </p:nvSpPr>
        <p:spPr>
          <a:xfrm>
            <a:off x="1188720" y="530352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7a82b0"/>
                </a:solidFill>
                <a:latin typeface="Calibri"/>
                <a:ea typeface="Calibri"/>
              </a:rPr>
              <a:t>Asking for passwords, OTPs, or payment details.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Image 0" descr="assets/bg_dark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24" name="Text 0"/>
          <p:cNvSpPr/>
          <p:nvPr/>
        </p:nvSpPr>
        <p:spPr>
          <a:xfrm>
            <a:off x="54864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Arial"/>
                <a:ea typeface="Arial"/>
              </a:rPr>
              <a:t>HOW TO SPOT FAKE WEBSITES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548640" y="98748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7a82b0"/>
                </a:solidFill>
                <a:latin typeface="Calibri"/>
                <a:ea typeface="Calibri"/>
              </a:rPr>
              <a:t>Check the address bar before you type a single character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548640" y="1600200"/>
            <a:ext cx="11063880" cy="776880"/>
          </a:xfrm>
          <a:prstGeom prst="roundRect">
            <a:avLst>
              <a:gd name="adj" fmla="val 11765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3"/>
          <p:cNvSpPr/>
          <p:nvPr/>
        </p:nvSpPr>
        <p:spPr>
          <a:xfrm>
            <a:off x="822960" y="1801440"/>
            <a:ext cx="10515240" cy="383760"/>
          </a:xfrm>
          <a:prstGeom prst="roundRect">
            <a:avLst>
              <a:gd name="adj" fmla="val 50000"/>
            </a:avLst>
          </a:prstGeom>
          <a:solidFill>
            <a:srgbClr val="0e1230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8" name="Image 1" descr="assets/glow_pink_purple.png"/>
          <p:cNvPicPr/>
          <p:nvPr/>
        </p:nvPicPr>
        <p:blipFill>
          <a:blip r:embed="rId2"/>
          <a:stretch/>
        </p:blipFill>
        <p:spPr>
          <a:xfrm>
            <a:off x="932760" y="1865520"/>
            <a:ext cx="255600" cy="255600"/>
          </a:xfrm>
          <a:prstGeom prst="rect">
            <a:avLst/>
          </a:prstGeom>
          <a:ln w="0">
            <a:noFill/>
          </a:ln>
        </p:spPr>
      </p:pic>
      <p:pic>
        <p:nvPicPr>
          <p:cNvPr id="129" name="Image 2" descr="icons/lock.png"/>
          <p:cNvPicPr/>
          <p:nvPr/>
        </p:nvPicPr>
        <p:blipFill>
          <a:blip r:embed="rId3"/>
          <a:stretch/>
        </p:blipFill>
        <p:spPr>
          <a:xfrm>
            <a:off x="996840" y="1929240"/>
            <a:ext cx="127800" cy="127800"/>
          </a:xfrm>
          <a:prstGeom prst="rect">
            <a:avLst/>
          </a:prstGeom>
          <a:ln w="0">
            <a:noFill/>
          </a:ln>
        </p:spPr>
      </p:pic>
      <p:sp>
        <p:nvSpPr>
          <p:cNvPr id="130" name="Text 4"/>
          <p:cNvSpPr/>
          <p:nvPr/>
        </p:nvSpPr>
        <p:spPr>
          <a:xfrm>
            <a:off x="1261800" y="1783080"/>
            <a:ext cx="99666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6fa3"/>
                </a:solidFill>
                <a:latin typeface="Courier New"/>
                <a:ea typeface="Courier New"/>
              </a:rPr>
              <a:t>http://www.arnazon-support.com/account/verify-login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1" name="Image 3" descr="assets/glow_purple_blue.png"/>
          <p:cNvPicPr/>
          <p:nvPr/>
        </p:nvPicPr>
        <p:blipFill>
          <a:blip r:embed="rId4"/>
          <a:stretch/>
        </p:blipFill>
        <p:spPr>
          <a:xfrm>
            <a:off x="548640" y="2697480"/>
            <a:ext cx="548280" cy="548280"/>
          </a:xfrm>
          <a:prstGeom prst="rect">
            <a:avLst/>
          </a:prstGeom>
          <a:ln w="0">
            <a:noFill/>
          </a:ln>
        </p:spPr>
      </p:pic>
      <p:pic>
        <p:nvPicPr>
          <p:cNvPr id="132" name="Image 4" descr="icons/search.png"/>
          <p:cNvPicPr/>
          <p:nvPr/>
        </p:nvPicPr>
        <p:blipFill>
          <a:blip r:embed="rId5"/>
          <a:stretch/>
        </p:blipFill>
        <p:spPr>
          <a:xfrm>
            <a:off x="676800" y="28256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33" name="Text 5"/>
          <p:cNvSpPr/>
          <p:nvPr/>
        </p:nvSpPr>
        <p:spPr>
          <a:xfrm>
            <a:off x="1298520" y="2651760"/>
            <a:ext cx="4507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Arial"/>
                <a:ea typeface="Arial"/>
              </a:rPr>
              <a:t>Check the domain carefully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6"/>
          <p:cNvSpPr/>
          <p:nvPr/>
        </p:nvSpPr>
        <p:spPr>
          <a:xfrm>
            <a:off x="1298520" y="3017520"/>
            <a:ext cx="4507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7a82b0"/>
                </a:solidFill>
                <a:latin typeface="Calibri"/>
                <a:ea typeface="Calibri"/>
              </a:rPr>
              <a:t>Look letter-by-letter: "arnazon" vs "amazon", "rn" mimicking "m". Attackers register lookalike domains.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5" name="Image 5" descr="assets/glow_purple_blue.png"/>
          <p:cNvPicPr/>
          <p:nvPr/>
        </p:nvPicPr>
        <p:blipFill>
          <a:blip r:embed="rId6"/>
          <a:stretch/>
        </p:blipFill>
        <p:spPr>
          <a:xfrm>
            <a:off x="6263640" y="2697480"/>
            <a:ext cx="548280" cy="548280"/>
          </a:xfrm>
          <a:prstGeom prst="rect">
            <a:avLst/>
          </a:prstGeom>
          <a:ln w="0">
            <a:noFill/>
          </a:ln>
        </p:spPr>
      </p:pic>
      <p:pic>
        <p:nvPicPr>
          <p:cNvPr id="136" name="Image 6" descr="icons/lock.png"/>
          <p:cNvPicPr/>
          <p:nvPr/>
        </p:nvPicPr>
        <p:blipFill>
          <a:blip r:embed="rId7"/>
          <a:stretch/>
        </p:blipFill>
        <p:spPr>
          <a:xfrm>
            <a:off x="6391800" y="28256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37" name="Text 7"/>
          <p:cNvSpPr/>
          <p:nvPr/>
        </p:nvSpPr>
        <p:spPr>
          <a:xfrm>
            <a:off x="7013520" y="2651760"/>
            <a:ext cx="4507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Arial"/>
                <a:ea typeface="Arial"/>
              </a:rPr>
              <a:t>Confirm HTTPS — but don’t stop there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7013520" y="3017520"/>
            <a:ext cx="4507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7a82b0"/>
                </a:solidFill>
                <a:latin typeface="Calibri"/>
                <a:ea typeface="Calibri"/>
              </a:rPr>
              <a:t>A padlock only means the connection is encrypted, not that the site is trustworthy. Free certificates are easy to get.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9" name="Image 7" descr="assets/glow_purple_blue.png"/>
          <p:cNvPicPr/>
          <p:nvPr/>
        </p:nvPicPr>
        <p:blipFill>
          <a:blip r:embed="rId8"/>
          <a:stretch/>
        </p:blipFill>
        <p:spPr>
          <a:xfrm>
            <a:off x="548640" y="4434840"/>
            <a:ext cx="548280" cy="548280"/>
          </a:xfrm>
          <a:prstGeom prst="rect">
            <a:avLst/>
          </a:prstGeom>
          <a:ln w="0">
            <a:noFill/>
          </a:ln>
        </p:spPr>
      </p:pic>
      <p:pic>
        <p:nvPicPr>
          <p:cNvPr id="140" name="Image 8" descr="icons/eye.png"/>
          <p:cNvPicPr/>
          <p:nvPr/>
        </p:nvPicPr>
        <p:blipFill>
          <a:blip r:embed="rId9"/>
          <a:stretch/>
        </p:blipFill>
        <p:spPr>
          <a:xfrm>
            <a:off x="676800" y="456300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41" name="Text 9"/>
          <p:cNvSpPr/>
          <p:nvPr/>
        </p:nvSpPr>
        <p:spPr>
          <a:xfrm>
            <a:off x="1298520" y="4389120"/>
            <a:ext cx="4507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Arial"/>
                <a:ea typeface="Arial"/>
              </a:rPr>
              <a:t>Inspect design and content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1298520" y="4754880"/>
            <a:ext cx="4507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7a82b0"/>
                </a:solidFill>
                <a:latin typeface="Calibri"/>
                <a:ea typeface="Calibri"/>
              </a:rPr>
              <a:t>Watch for low-resolution logos, broken layouts, awkward wording, and outdated copyright years.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3" name="Image 9" descr="assets/glow_purple_blue.png"/>
          <p:cNvPicPr/>
          <p:nvPr/>
        </p:nvPicPr>
        <p:blipFill>
          <a:blip r:embed="rId10"/>
          <a:stretch/>
        </p:blipFill>
        <p:spPr>
          <a:xfrm>
            <a:off x="6263640" y="4434840"/>
            <a:ext cx="548280" cy="548280"/>
          </a:xfrm>
          <a:prstGeom prst="rect">
            <a:avLst/>
          </a:prstGeom>
          <a:ln w="0">
            <a:noFill/>
          </a:ln>
        </p:spPr>
      </p:pic>
      <p:pic>
        <p:nvPicPr>
          <p:cNvPr id="144" name="Image 10" descr="icons/link.png"/>
          <p:cNvPicPr/>
          <p:nvPr/>
        </p:nvPicPr>
        <p:blipFill>
          <a:blip r:embed="rId11"/>
          <a:stretch/>
        </p:blipFill>
        <p:spPr>
          <a:xfrm>
            <a:off x="6391800" y="456300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145" name="Text 11"/>
          <p:cNvSpPr/>
          <p:nvPr/>
        </p:nvSpPr>
        <p:spPr>
          <a:xfrm>
            <a:off x="7013520" y="4389120"/>
            <a:ext cx="4507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Arial"/>
                <a:ea typeface="Arial"/>
              </a:rPr>
              <a:t>Hover before you click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7013520" y="4754880"/>
            <a:ext cx="4507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7a82b0"/>
                </a:solidFill>
                <a:latin typeface="Calibri"/>
                <a:ea typeface="Calibri"/>
              </a:rPr>
              <a:t>Hover over any link to preview the real destination URL shown in the browser status bar.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Image 0" descr="assets/bg_dark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48" name="Text 0"/>
          <p:cNvSpPr/>
          <p:nvPr/>
        </p:nvSpPr>
        <p:spPr>
          <a:xfrm>
            <a:off x="54864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Arial"/>
                <a:ea typeface="Arial"/>
              </a:rPr>
              <a:t>SOCIAL ENGINEERING TACTICS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548640" y="98748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7a82b0"/>
                </a:solidFill>
                <a:latin typeface="Calibri"/>
                <a:ea typeface="Calibri"/>
              </a:rPr>
              <a:t>The psychology attackers exploit before the technology even matters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2"/>
          <p:cNvSpPr/>
          <p:nvPr/>
        </p:nvSpPr>
        <p:spPr>
          <a:xfrm>
            <a:off x="548640" y="1600200"/>
            <a:ext cx="3520080" cy="1965600"/>
          </a:xfrm>
          <a:prstGeom prst="roundRect">
            <a:avLst>
              <a:gd name="adj" fmla="val 4186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1" name="Image 1" descr="assets/glow_pink_purple.png"/>
          <p:cNvPicPr/>
          <p:nvPr/>
        </p:nvPicPr>
        <p:blipFill>
          <a:blip r:embed="rId2"/>
          <a:stretch/>
        </p:blipFill>
        <p:spPr>
          <a:xfrm>
            <a:off x="749880" y="1801440"/>
            <a:ext cx="511560" cy="511560"/>
          </a:xfrm>
          <a:prstGeom prst="rect">
            <a:avLst/>
          </a:prstGeom>
          <a:ln w="0">
            <a:noFill/>
          </a:ln>
        </p:spPr>
      </p:pic>
      <p:pic>
        <p:nvPicPr>
          <p:cNvPr id="152" name="Image 2" descr="icons/clock.png"/>
          <p:cNvPicPr/>
          <p:nvPr/>
        </p:nvPicPr>
        <p:blipFill>
          <a:blip r:embed="rId3"/>
          <a:stretch/>
        </p:blipFill>
        <p:spPr>
          <a:xfrm>
            <a:off x="877680" y="19292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53" name="Text 3"/>
          <p:cNvSpPr/>
          <p:nvPr/>
        </p:nvSpPr>
        <p:spPr>
          <a:xfrm>
            <a:off x="777240" y="246888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Urgency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777240" y="278892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82b0"/>
                </a:solidFill>
                <a:latin typeface="Calibri"/>
                <a:ea typeface="Calibri"/>
              </a:rPr>
              <a:t>Manufactured deadlines push victims to skip verification and act on impulse.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5"/>
          <p:cNvSpPr/>
          <p:nvPr/>
        </p:nvSpPr>
        <p:spPr>
          <a:xfrm>
            <a:off x="4325040" y="1600200"/>
            <a:ext cx="3520080" cy="1965600"/>
          </a:xfrm>
          <a:prstGeom prst="roundRect">
            <a:avLst>
              <a:gd name="adj" fmla="val 4186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6" name="Image 3" descr="assets/glow_pink_purple.png"/>
          <p:cNvPicPr/>
          <p:nvPr/>
        </p:nvPicPr>
        <p:blipFill>
          <a:blip r:embed="rId4"/>
          <a:stretch/>
        </p:blipFill>
        <p:spPr>
          <a:xfrm>
            <a:off x="4526280" y="1801440"/>
            <a:ext cx="511560" cy="511560"/>
          </a:xfrm>
          <a:prstGeom prst="rect">
            <a:avLst/>
          </a:prstGeom>
          <a:ln w="0">
            <a:noFill/>
          </a:ln>
        </p:spPr>
      </p:pic>
      <p:pic>
        <p:nvPicPr>
          <p:cNvPr id="157" name="Image 4" descr="icons/usercheck.png"/>
          <p:cNvPicPr/>
          <p:nvPr/>
        </p:nvPicPr>
        <p:blipFill>
          <a:blip r:embed="rId5"/>
          <a:stretch/>
        </p:blipFill>
        <p:spPr>
          <a:xfrm>
            <a:off x="4654440" y="19292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58" name="Text 6"/>
          <p:cNvSpPr/>
          <p:nvPr/>
        </p:nvSpPr>
        <p:spPr>
          <a:xfrm>
            <a:off x="4553640" y="246888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Authority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7"/>
          <p:cNvSpPr/>
          <p:nvPr/>
        </p:nvSpPr>
        <p:spPr>
          <a:xfrm>
            <a:off x="4553640" y="278892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82b0"/>
                </a:solidFill>
                <a:latin typeface="Calibri"/>
                <a:ea typeface="Calibri"/>
              </a:rPr>
              <a:t>Impersonating executives, IT staff, or officials to demand compliance.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8"/>
          <p:cNvSpPr/>
          <p:nvPr/>
        </p:nvSpPr>
        <p:spPr>
          <a:xfrm>
            <a:off x="8101440" y="1600200"/>
            <a:ext cx="3520080" cy="1965600"/>
          </a:xfrm>
          <a:prstGeom prst="roundRect">
            <a:avLst>
              <a:gd name="adj" fmla="val 4186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1" name="Image 5" descr="assets/glow_pink_purple.png"/>
          <p:cNvPicPr/>
          <p:nvPr/>
        </p:nvPicPr>
        <p:blipFill>
          <a:blip r:embed="rId6"/>
          <a:stretch/>
        </p:blipFill>
        <p:spPr>
          <a:xfrm>
            <a:off x="8302680" y="1801440"/>
            <a:ext cx="511560" cy="511560"/>
          </a:xfrm>
          <a:prstGeom prst="rect">
            <a:avLst/>
          </a:prstGeom>
          <a:ln w="0">
            <a:noFill/>
          </a:ln>
        </p:spPr>
      </p:pic>
      <p:pic>
        <p:nvPicPr>
          <p:cNvPr id="162" name="Image 6" descr="icons/users.png"/>
          <p:cNvPicPr/>
          <p:nvPr/>
        </p:nvPicPr>
        <p:blipFill>
          <a:blip r:embed="rId7"/>
          <a:stretch/>
        </p:blipFill>
        <p:spPr>
          <a:xfrm>
            <a:off x="8430840" y="192924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63" name="Text 9"/>
          <p:cNvSpPr/>
          <p:nvPr/>
        </p:nvSpPr>
        <p:spPr>
          <a:xfrm>
            <a:off x="8330040" y="246888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Trust &amp; Familiarity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10"/>
          <p:cNvSpPr/>
          <p:nvPr/>
        </p:nvSpPr>
        <p:spPr>
          <a:xfrm>
            <a:off x="8330040" y="278892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82b0"/>
                </a:solidFill>
                <a:latin typeface="Calibri"/>
                <a:ea typeface="Calibri"/>
              </a:rPr>
              <a:t>Mimicking a known contact, brand, or ongoing conversation thread.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11"/>
          <p:cNvSpPr/>
          <p:nvPr/>
        </p:nvSpPr>
        <p:spPr>
          <a:xfrm>
            <a:off x="548640" y="3794760"/>
            <a:ext cx="3520080" cy="1965600"/>
          </a:xfrm>
          <a:prstGeom prst="roundRect">
            <a:avLst>
              <a:gd name="adj" fmla="val 4186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6" name="Image 7" descr="assets/glow_pink_purple.png"/>
          <p:cNvPicPr/>
          <p:nvPr/>
        </p:nvPicPr>
        <p:blipFill>
          <a:blip r:embed="rId8"/>
          <a:stretch/>
        </p:blipFill>
        <p:spPr>
          <a:xfrm>
            <a:off x="749880" y="3996000"/>
            <a:ext cx="511560" cy="511560"/>
          </a:xfrm>
          <a:prstGeom prst="rect">
            <a:avLst/>
          </a:prstGeom>
          <a:ln w="0">
            <a:noFill/>
          </a:ln>
        </p:spPr>
      </p:pic>
      <p:pic>
        <p:nvPicPr>
          <p:cNvPr id="167" name="Image 8" descr="icons/alert.png"/>
          <p:cNvPicPr/>
          <p:nvPr/>
        </p:nvPicPr>
        <p:blipFill>
          <a:blip r:embed="rId9"/>
          <a:stretch/>
        </p:blipFill>
        <p:spPr>
          <a:xfrm>
            <a:off x="877680" y="41238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68" name="Text 12"/>
          <p:cNvSpPr/>
          <p:nvPr/>
        </p:nvSpPr>
        <p:spPr>
          <a:xfrm>
            <a:off x="777240" y="466344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Fear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13"/>
          <p:cNvSpPr/>
          <p:nvPr/>
        </p:nvSpPr>
        <p:spPr>
          <a:xfrm>
            <a:off x="777240" y="498348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82b0"/>
                </a:solidFill>
                <a:latin typeface="Calibri"/>
                <a:ea typeface="Calibri"/>
              </a:rPr>
              <a:t>Threatening account suspension, legal trouble, or financial loss.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14"/>
          <p:cNvSpPr/>
          <p:nvPr/>
        </p:nvSpPr>
        <p:spPr>
          <a:xfrm>
            <a:off x="4325040" y="3794760"/>
            <a:ext cx="3520080" cy="1965600"/>
          </a:xfrm>
          <a:prstGeom prst="roundRect">
            <a:avLst>
              <a:gd name="adj" fmla="val 4186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1" name="Image 9" descr="assets/glow_pink_purple.png"/>
          <p:cNvPicPr/>
          <p:nvPr/>
        </p:nvPicPr>
        <p:blipFill>
          <a:blip r:embed="rId10"/>
          <a:stretch/>
        </p:blipFill>
        <p:spPr>
          <a:xfrm>
            <a:off x="4526280" y="3996000"/>
            <a:ext cx="511560" cy="511560"/>
          </a:xfrm>
          <a:prstGeom prst="rect">
            <a:avLst/>
          </a:prstGeom>
          <a:ln w="0">
            <a:noFill/>
          </a:ln>
        </p:spPr>
      </p:pic>
      <p:pic>
        <p:nvPicPr>
          <p:cNvPr id="172" name="Image 10" descr="icons/thumbsup.png"/>
          <p:cNvPicPr/>
          <p:nvPr/>
        </p:nvPicPr>
        <p:blipFill>
          <a:blip r:embed="rId11"/>
          <a:stretch/>
        </p:blipFill>
        <p:spPr>
          <a:xfrm>
            <a:off x="4654440" y="41238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73" name="Text 15"/>
          <p:cNvSpPr/>
          <p:nvPr/>
        </p:nvSpPr>
        <p:spPr>
          <a:xfrm>
            <a:off x="4553640" y="466344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Reciprocity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16"/>
          <p:cNvSpPr/>
          <p:nvPr/>
        </p:nvSpPr>
        <p:spPr>
          <a:xfrm>
            <a:off x="4553640" y="498348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82b0"/>
                </a:solidFill>
                <a:latin typeface="Calibri"/>
                <a:ea typeface="Calibri"/>
              </a:rPr>
              <a:t>Offering a "free" gift or reward that requires personal info in return.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17"/>
          <p:cNvSpPr/>
          <p:nvPr/>
        </p:nvSpPr>
        <p:spPr>
          <a:xfrm>
            <a:off x="8101440" y="3794760"/>
            <a:ext cx="3520080" cy="1965600"/>
          </a:xfrm>
          <a:prstGeom prst="roundRect">
            <a:avLst>
              <a:gd name="adj" fmla="val 4186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6" name="Image 11" descr="assets/glow_pink_purple.png"/>
          <p:cNvPicPr/>
          <p:nvPr/>
        </p:nvPicPr>
        <p:blipFill>
          <a:blip r:embed="rId12"/>
          <a:stretch/>
        </p:blipFill>
        <p:spPr>
          <a:xfrm>
            <a:off x="8302680" y="3996000"/>
            <a:ext cx="511560" cy="511560"/>
          </a:xfrm>
          <a:prstGeom prst="rect">
            <a:avLst/>
          </a:prstGeom>
          <a:ln w="0">
            <a:noFill/>
          </a:ln>
        </p:spPr>
      </p:pic>
      <p:pic>
        <p:nvPicPr>
          <p:cNvPr id="177" name="Image 12" descr="icons/help.png"/>
          <p:cNvPicPr/>
          <p:nvPr/>
        </p:nvPicPr>
        <p:blipFill>
          <a:blip r:embed="rId13"/>
          <a:stretch/>
        </p:blipFill>
        <p:spPr>
          <a:xfrm>
            <a:off x="8430840" y="41238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78" name="Text 18"/>
          <p:cNvSpPr/>
          <p:nvPr/>
        </p:nvSpPr>
        <p:spPr>
          <a:xfrm>
            <a:off x="8330040" y="466344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Curiosity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19"/>
          <p:cNvSpPr/>
          <p:nvPr/>
        </p:nvSpPr>
        <p:spPr>
          <a:xfrm>
            <a:off x="8330040" y="498348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82b0"/>
                </a:solidFill>
                <a:latin typeface="Calibri"/>
                <a:ea typeface="Calibri"/>
              </a:rPr>
              <a:t>Vague, intriguing subject lines that tempt a click to "find out more".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Image 0" descr="assets/bg_dark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81" name="Text 0"/>
          <p:cNvSpPr/>
          <p:nvPr/>
        </p:nvSpPr>
        <p:spPr>
          <a:xfrm>
            <a:off x="54864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Arial"/>
                <a:ea typeface="Arial"/>
              </a:rPr>
              <a:t>REAL-WORLD EXAMPLE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548640" y="98748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7a82b0"/>
                </a:solidFill>
                <a:latin typeface="Calibri"/>
                <a:ea typeface="Calibri"/>
              </a:rPr>
              <a:t>Even the biggest tech companies have been fooled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3" name="Image 1" descr="assets/panel_hero.png"/>
          <p:cNvPicPr/>
          <p:nvPr/>
        </p:nvPicPr>
        <p:blipFill>
          <a:blip r:embed="rId2"/>
          <a:stretch/>
        </p:blipFill>
        <p:spPr>
          <a:xfrm>
            <a:off x="548640" y="1554480"/>
            <a:ext cx="3748680" cy="4525920"/>
          </a:xfrm>
          <a:prstGeom prst="rect">
            <a:avLst/>
          </a:prstGeom>
          <a:ln w="0">
            <a:noFill/>
          </a:ln>
        </p:spPr>
      </p:pic>
      <p:pic>
        <p:nvPicPr>
          <p:cNvPr id="184" name="Image 2" descr="icons/octagon.png"/>
          <p:cNvPicPr/>
          <p:nvPr/>
        </p:nvPicPr>
        <p:blipFill>
          <a:blip r:embed="rId3"/>
          <a:stretch/>
        </p:blipFill>
        <p:spPr>
          <a:xfrm>
            <a:off x="868680" y="1874520"/>
            <a:ext cx="502560" cy="502560"/>
          </a:xfrm>
          <a:prstGeom prst="rect">
            <a:avLst/>
          </a:prstGeom>
          <a:ln w="0">
            <a:noFill/>
          </a:ln>
        </p:spPr>
      </p:pic>
      <p:sp>
        <p:nvSpPr>
          <p:cNvPr id="185" name="Text 2"/>
          <p:cNvSpPr/>
          <p:nvPr/>
        </p:nvSpPr>
        <p:spPr>
          <a:xfrm>
            <a:off x="777240" y="2468880"/>
            <a:ext cx="3291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pc="-1" strike="noStrike">
                <a:solidFill>
                  <a:srgbClr val="ff6fa3"/>
                </a:solidFill>
                <a:latin typeface="Arial"/>
                <a:ea typeface="Arial"/>
              </a:rPr>
              <a:t>$100M+</a:t>
            </a:r>
            <a:endParaRPr b="0" lang="en-US" sz="4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777240" y="3337560"/>
            <a:ext cx="329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stolen from Google and Facebook between 2013–2015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4"/>
          <p:cNvSpPr/>
          <p:nvPr/>
        </p:nvSpPr>
        <p:spPr>
          <a:xfrm>
            <a:off x="777240" y="4297680"/>
            <a:ext cx="3291840" cy="360"/>
          </a:xfrm>
          <a:prstGeom prst="line">
            <a:avLst/>
          </a:prstGeom>
          <a:ln w="12600">
            <a:solidFill>
              <a:srgbClr val="5a5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777240" y="4480560"/>
            <a:ext cx="32914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7cce8"/>
                </a:solidFill>
                <a:latin typeface="Calibri"/>
                <a:ea typeface="Calibri"/>
              </a:rPr>
              <a:t>Attacker: Evaldas Rimasauskas, a Lithuanian national, later sentenced to 5 years in prison.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6"/>
          <p:cNvSpPr/>
          <p:nvPr/>
        </p:nvSpPr>
        <p:spPr>
          <a:xfrm>
            <a:off x="4663440" y="160020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3e4e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7"/>
          <p:cNvSpPr/>
          <p:nvPr/>
        </p:nvSpPr>
        <p:spPr>
          <a:xfrm>
            <a:off x="4663440" y="1600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8"/>
          <p:cNvSpPr/>
          <p:nvPr/>
        </p:nvSpPr>
        <p:spPr>
          <a:xfrm>
            <a:off x="5303520" y="1554480"/>
            <a:ext cx="6309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Arial"/>
                <a:ea typeface="Arial"/>
              </a:rPr>
              <a:t>Impersonation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9"/>
          <p:cNvSpPr/>
          <p:nvPr/>
        </p:nvSpPr>
        <p:spPr>
          <a:xfrm>
            <a:off x="5303520" y="1874520"/>
            <a:ext cx="6309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7a82b0"/>
                </a:solidFill>
                <a:latin typeface="Calibri"/>
                <a:ea typeface="Calibri"/>
              </a:rPr>
              <a:t>The attacker set up a fake company with a name nearly identical to a real Google/Facebook hardware vendor, "Quanta Computer".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10"/>
          <p:cNvSpPr/>
          <p:nvPr/>
        </p:nvSpPr>
        <p:spPr>
          <a:xfrm>
            <a:off x="4663440" y="277056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3e4e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11"/>
          <p:cNvSpPr/>
          <p:nvPr/>
        </p:nvSpPr>
        <p:spPr>
          <a:xfrm>
            <a:off x="4663440" y="2770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12"/>
          <p:cNvSpPr/>
          <p:nvPr/>
        </p:nvSpPr>
        <p:spPr>
          <a:xfrm>
            <a:off x="5303520" y="2724840"/>
            <a:ext cx="6309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Arial"/>
                <a:ea typeface="Arial"/>
              </a:rPr>
              <a:t>Fabricated Invoices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13"/>
          <p:cNvSpPr/>
          <p:nvPr/>
        </p:nvSpPr>
        <p:spPr>
          <a:xfrm>
            <a:off x="5303520" y="3044880"/>
            <a:ext cx="6309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7a82b0"/>
                </a:solidFill>
                <a:latin typeface="Calibri"/>
                <a:ea typeface="Calibri"/>
              </a:rPr>
              <a:t>Fraudulent invoices, contracts, and letters were sent to accounting staff at both companies, appearing entirely legitimate.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14"/>
          <p:cNvSpPr/>
          <p:nvPr/>
        </p:nvSpPr>
        <p:spPr>
          <a:xfrm>
            <a:off x="4663440" y="394092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3e4e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15"/>
          <p:cNvSpPr/>
          <p:nvPr/>
        </p:nvSpPr>
        <p:spPr>
          <a:xfrm>
            <a:off x="4663440" y="39409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16"/>
          <p:cNvSpPr/>
          <p:nvPr/>
        </p:nvSpPr>
        <p:spPr>
          <a:xfrm>
            <a:off x="5303520" y="3895200"/>
            <a:ext cx="6309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Arial"/>
                <a:ea typeface="Arial"/>
              </a:rPr>
              <a:t>Wire Transfers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17"/>
          <p:cNvSpPr/>
          <p:nvPr/>
        </p:nvSpPr>
        <p:spPr>
          <a:xfrm>
            <a:off x="5303520" y="4215240"/>
            <a:ext cx="6309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7a82b0"/>
                </a:solidFill>
                <a:latin typeface="Calibri"/>
                <a:ea typeface="Calibri"/>
              </a:rPr>
              <a:t>Employees processed the payments through standard channels, unknowingly wiring tens of millions to attacker-controlled bank accounts.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18"/>
          <p:cNvSpPr/>
          <p:nvPr/>
        </p:nvSpPr>
        <p:spPr>
          <a:xfrm>
            <a:off x="4663440" y="5111640"/>
            <a:ext cx="456840" cy="45684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9"/>
          <p:cNvSpPr/>
          <p:nvPr/>
        </p:nvSpPr>
        <p:spPr>
          <a:xfrm>
            <a:off x="4663440" y="51116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20"/>
          <p:cNvSpPr/>
          <p:nvPr/>
        </p:nvSpPr>
        <p:spPr>
          <a:xfrm>
            <a:off x="5303520" y="5065920"/>
            <a:ext cx="6309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ffff"/>
                </a:solidFill>
                <a:latin typeface="Arial"/>
                <a:ea typeface="Arial"/>
              </a:rPr>
              <a:t>The Lesson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21"/>
          <p:cNvSpPr/>
          <p:nvPr/>
        </p:nvSpPr>
        <p:spPr>
          <a:xfrm>
            <a:off x="5303520" y="5385960"/>
            <a:ext cx="6309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7a82b0"/>
                </a:solidFill>
                <a:latin typeface="Calibri"/>
                <a:ea typeface="Calibri"/>
              </a:rPr>
              <a:t>No amount of technical sophistication was needed — the scam relied entirely on convincing paperwork and misplaced trust.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Image 0" descr="assets/bg_dark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206" name="Text 0"/>
          <p:cNvSpPr/>
          <p:nvPr/>
        </p:nvSpPr>
        <p:spPr>
          <a:xfrm>
            <a:off x="54864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Arial"/>
                <a:ea typeface="Arial"/>
              </a:rPr>
              <a:t>BEST PRACTICES &amp; TIPS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1"/>
          <p:cNvSpPr/>
          <p:nvPr/>
        </p:nvSpPr>
        <p:spPr>
          <a:xfrm>
            <a:off x="548640" y="98748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7a82b0"/>
                </a:solidFill>
                <a:latin typeface="Calibri"/>
                <a:ea typeface="Calibri"/>
              </a:rPr>
              <a:t>Simple habits that stop the vast majority of phishing attempts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2"/>
          <p:cNvSpPr/>
          <p:nvPr/>
        </p:nvSpPr>
        <p:spPr>
          <a:xfrm>
            <a:off x="548640" y="1536120"/>
            <a:ext cx="3520080" cy="2102760"/>
          </a:xfrm>
          <a:prstGeom prst="roundRect">
            <a:avLst>
              <a:gd name="adj" fmla="val 3913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9" name="Image 1" descr="assets/glow_purple_blue.png"/>
          <p:cNvPicPr/>
          <p:nvPr/>
        </p:nvPicPr>
        <p:blipFill>
          <a:blip r:embed="rId2"/>
          <a:stretch/>
        </p:blipFill>
        <p:spPr>
          <a:xfrm>
            <a:off x="786240" y="1774080"/>
            <a:ext cx="548280" cy="548280"/>
          </a:xfrm>
          <a:prstGeom prst="rect">
            <a:avLst/>
          </a:prstGeom>
          <a:ln w="0">
            <a:noFill/>
          </a:ln>
        </p:spPr>
      </p:pic>
      <p:pic>
        <p:nvPicPr>
          <p:cNvPr id="210" name="Image 2" descr="icons/usercheck.png"/>
          <p:cNvPicPr/>
          <p:nvPr/>
        </p:nvPicPr>
        <p:blipFill>
          <a:blip r:embed="rId3"/>
          <a:stretch/>
        </p:blipFill>
        <p:spPr>
          <a:xfrm>
            <a:off x="914400" y="19018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211" name="Text 3"/>
          <p:cNvSpPr/>
          <p:nvPr/>
        </p:nvSpPr>
        <p:spPr>
          <a:xfrm>
            <a:off x="786240" y="245052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Verify independently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4"/>
          <p:cNvSpPr/>
          <p:nvPr/>
        </p:nvSpPr>
        <p:spPr>
          <a:xfrm>
            <a:off x="786240" y="279792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82b0"/>
                </a:solidFill>
                <a:latin typeface="Calibri"/>
                <a:ea typeface="Calibri"/>
              </a:rPr>
              <a:t>Contact the sender through a known number or official site — never reply to the suspicious message.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5"/>
          <p:cNvSpPr/>
          <p:nvPr/>
        </p:nvSpPr>
        <p:spPr>
          <a:xfrm>
            <a:off x="4325040" y="1536120"/>
            <a:ext cx="3520080" cy="2102760"/>
          </a:xfrm>
          <a:prstGeom prst="roundRect">
            <a:avLst>
              <a:gd name="adj" fmla="val 3913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4" name="Image 3" descr="assets/glow_purple_blue.png"/>
          <p:cNvPicPr/>
          <p:nvPr/>
        </p:nvPicPr>
        <p:blipFill>
          <a:blip r:embed="rId4"/>
          <a:stretch/>
        </p:blipFill>
        <p:spPr>
          <a:xfrm>
            <a:off x="4563000" y="1774080"/>
            <a:ext cx="548280" cy="548280"/>
          </a:xfrm>
          <a:prstGeom prst="rect">
            <a:avLst/>
          </a:prstGeom>
          <a:ln w="0">
            <a:noFill/>
          </a:ln>
        </p:spPr>
      </p:pic>
      <p:pic>
        <p:nvPicPr>
          <p:cNvPr id="215" name="Image 4" descr="icons/lock.png"/>
          <p:cNvPicPr/>
          <p:nvPr/>
        </p:nvPicPr>
        <p:blipFill>
          <a:blip r:embed="rId5"/>
          <a:stretch/>
        </p:blipFill>
        <p:spPr>
          <a:xfrm>
            <a:off x="4690800" y="19018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216" name="Text 6"/>
          <p:cNvSpPr/>
          <p:nvPr/>
        </p:nvSpPr>
        <p:spPr>
          <a:xfrm>
            <a:off x="4563000" y="245052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Enable MFA everywhere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7"/>
          <p:cNvSpPr/>
          <p:nvPr/>
        </p:nvSpPr>
        <p:spPr>
          <a:xfrm>
            <a:off x="4563000" y="279792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82b0"/>
                </a:solidFill>
                <a:latin typeface="Calibri"/>
                <a:ea typeface="Calibri"/>
              </a:rPr>
              <a:t>Multi-factor authentication stops most account takeovers even if a password is stolen.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8"/>
          <p:cNvSpPr/>
          <p:nvPr/>
        </p:nvSpPr>
        <p:spPr>
          <a:xfrm>
            <a:off x="8101440" y="1536120"/>
            <a:ext cx="3520080" cy="2102760"/>
          </a:xfrm>
          <a:prstGeom prst="roundRect">
            <a:avLst>
              <a:gd name="adj" fmla="val 3913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9" name="Image 5" descr="assets/glow_purple_blue.png"/>
          <p:cNvPicPr/>
          <p:nvPr/>
        </p:nvPicPr>
        <p:blipFill>
          <a:blip r:embed="rId6"/>
          <a:stretch/>
        </p:blipFill>
        <p:spPr>
          <a:xfrm>
            <a:off x="8339400" y="1774080"/>
            <a:ext cx="548280" cy="548280"/>
          </a:xfrm>
          <a:prstGeom prst="rect">
            <a:avLst/>
          </a:prstGeom>
          <a:ln w="0">
            <a:noFill/>
          </a:ln>
        </p:spPr>
      </p:pic>
      <p:pic>
        <p:nvPicPr>
          <p:cNvPr id="220" name="Image 6" descr="icons/link.png"/>
          <p:cNvPicPr/>
          <p:nvPr/>
        </p:nvPicPr>
        <p:blipFill>
          <a:blip r:embed="rId7"/>
          <a:stretch/>
        </p:blipFill>
        <p:spPr>
          <a:xfrm>
            <a:off x="8467200" y="190188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221" name="Text 9"/>
          <p:cNvSpPr/>
          <p:nvPr/>
        </p:nvSpPr>
        <p:spPr>
          <a:xfrm>
            <a:off x="8339400" y="245052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Never click blindly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10"/>
          <p:cNvSpPr/>
          <p:nvPr/>
        </p:nvSpPr>
        <p:spPr>
          <a:xfrm>
            <a:off x="8339400" y="279792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82b0"/>
                </a:solidFill>
                <a:latin typeface="Calibri"/>
                <a:ea typeface="Calibri"/>
              </a:rPr>
              <a:t>Hover to preview URLs, and type known addresses directly instead of following links.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11"/>
          <p:cNvSpPr/>
          <p:nvPr/>
        </p:nvSpPr>
        <p:spPr>
          <a:xfrm>
            <a:off x="548640" y="3840480"/>
            <a:ext cx="3520080" cy="2102760"/>
          </a:xfrm>
          <a:prstGeom prst="roundRect">
            <a:avLst>
              <a:gd name="adj" fmla="val 3913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4" name="Image 7" descr="assets/glow_purple_blue.png"/>
          <p:cNvPicPr/>
          <p:nvPr/>
        </p:nvPicPr>
        <p:blipFill>
          <a:blip r:embed="rId8"/>
          <a:stretch/>
        </p:blipFill>
        <p:spPr>
          <a:xfrm>
            <a:off x="786240" y="4078080"/>
            <a:ext cx="548280" cy="548280"/>
          </a:xfrm>
          <a:prstGeom prst="rect">
            <a:avLst/>
          </a:prstGeom>
          <a:ln w="0">
            <a:noFill/>
          </a:ln>
        </p:spPr>
      </p:pic>
      <p:pic>
        <p:nvPicPr>
          <p:cNvPr id="225" name="Image 8" descr="icons/shield.png"/>
          <p:cNvPicPr/>
          <p:nvPr/>
        </p:nvPicPr>
        <p:blipFill>
          <a:blip r:embed="rId9"/>
          <a:stretch/>
        </p:blipFill>
        <p:spPr>
          <a:xfrm>
            <a:off x="914400" y="42062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226" name="Text 12"/>
          <p:cNvSpPr/>
          <p:nvPr/>
        </p:nvSpPr>
        <p:spPr>
          <a:xfrm>
            <a:off x="786240" y="47548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Keep software updated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13"/>
          <p:cNvSpPr/>
          <p:nvPr/>
        </p:nvSpPr>
        <p:spPr>
          <a:xfrm>
            <a:off x="786240" y="510228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82b0"/>
                </a:solidFill>
                <a:latin typeface="Calibri"/>
                <a:ea typeface="Calibri"/>
              </a:rPr>
              <a:t>Patches close the security holes phishing payloads are built to exploit.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14"/>
          <p:cNvSpPr/>
          <p:nvPr/>
        </p:nvSpPr>
        <p:spPr>
          <a:xfrm>
            <a:off x="4325040" y="3840480"/>
            <a:ext cx="3520080" cy="2102760"/>
          </a:xfrm>
          <a:prstGeom prst="roundRect">
            <a:avLst>
              <a:gd name="adj" fmla="val 3913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9" name="Image 9" descr="assets/glow_purple_blue.png"/>
          <p:cNvPicPr/>
          <p:nvPr/>
        </p:nvPicPr>
        <p:blipFill>
          <a:blip r:embed="rId10"/>
          <a:stretch/>
        </p:blipFill>
        <p:spPr>
          <a:xfrm>
            <a:off x="4563000" y="4078080"/>
            <a:ext cx="548280" cy="548280"/>
          </a:xfrm>
          <a:prstGeom prst="rect">
            <a:avLst/>
          </a:prstGeom>
          <a:ln w="0">
            <a:noFill/>
          </a:ln>
        </p:spPr>
      </p:pic>
      <p:pic>
        <p:nvPicPr>
          <p:cNvPr id="230" name="Image 10" descr="icons/flag.png"/>
          <p:cNvPicPr/>
          <p:nvPr/>
        </p:nvPicPr>
        <p:blipFill>
          <a:blip r:embed="rId11"/>
          <a:stretch/>
        </p:blipFill>
        <p:spPr>
          <a:xfrm>
            <a:off x="4690800" y="42062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231" name="Text 15"/>
          <p:cNvSpPr/>
          <p:nvPr/>
        </p:nvSpPr>
        <p:spPr>
          <a:xfrm>
            <a:off x="4563000" y="47548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Report suspicious mail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16"/>
          <p:cNvSpPr/>
          <p:nvPr/>
        </p:nvSpPr>
        <p:spPr>
          <a:xfrm>
            <a:off x="4563000" y="510228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82b0"/>
                </a:solidFill>
                <a:latin typeface="Calibri"/>
                <a:ea typeface="Calibri"/>
              </a:rPr>
              <a:t>Use your organization’s "report phishing" button so IT can block it for everyone.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17"/>
          <p:cNvSpPr/>
          <p:nvPr/>
        </p:nvSpPr>
        <p:spPr>
          <a:xfrm>
            <a:off x="8101440" y="3840480"/>
            <a:ext cx="3520080" cy="2102760"/>
          </a:xfrm>
          <a:prstGeom prst="roundRect">
            <a:avLst>
              <a:gd name="adj" fmla="val 3913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4" name="Image 11" descr="assets/glow_purple_blue.png"/>
          <p:cNvPicPr/>
          <p:nvPr/>
        </p:nvPicPr>
        <p:blipFill>
          <a:blip r:embed="rId12"/>
          <a:stretch/>
        </p:blipFill>
        <p:spPr>
          <a:xfrm>
            <a:off x="8339400" y="4078080"/>
            <a:ext cx="548280" cy="548280"/>
          </a:xfrm>
          <a:prstGeom prst="rect">
            <a:avLst/>
          </a:prstGeom>
          <a:ln w="0">
            <a:noFill/>
          </a:ln>
        </p:spPr>
      </p:pic>
      <p:pic>
        <p:nvPicPr>
          <p:cNvPr id="235" name="Image 12" descr="icons/eye.png"/>
          <p:cNvPicPr/>
          <p:nvPr/>
        </p:nvPicPr>
        <p:blipFill>
          <a:blip r:embed="rId13"/>
          <a:stretch/>
        </p:blipFill>
        <p:spPr>
          <a:xfrm>
            <a:off x="8467200" y="420624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236" name="Text 18"/>
          <p:cNvSpPr/>
          <p:nvPr/>
        </p:nvSpPr>
        <p:spPr>
          <a:xfrm>
            <a:off x="8339400" y="4754880"/>
            <a:ext cx="3062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Slow down under pressure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19"/>
          <p:cNvSpPr/>
          <p:nvPr/>
        </p:nvSpPr>
        <p:spPr>
          <a:xfrm>
            <a:off x="8339400" y="510228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82b0"/>
                </a:solidFill>
                <a:latin typeface="Calibri"/>
                <a:ea typeface="Calibri"/>
              </a:rPr>
              <a:t>Urgency is a tactic. Pause, verify, and never act on threats within a message.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Image 0" descr="assets/bg_dark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239" name="Text 0"/>
          <p:cNvSpPr/>
          <p:nvPr/>
        </p:nvSpPr>
        <p:spPr>
          <a:xfrm>
            <a:off x="548640" y="4572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ffffff"/>
                </a:solidFill>
                <a:latin typeface="Arial"/>
                <a:ea typeface="Arial"/>
              </a:rPr>
              <a:t>QUICK QUIZ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1"/>
          <p:cNvSpPr/>
          <p:nvPr/>
        </p:nvSpPr>
        <p:spPr>
          <a:xfrm>
            <a:off x="548640" y="98748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7a82b0"/>
                </a:solidFill>
                <a:latin typeface="Calibri"/>
                <a:ea typeface="Calibri"/>
              </a:rPr>
              <a:t>Spot the phish — real or fake?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Shape 2"/>
          <p:cNvSpPr/>
          <p:nvPr/>
        </p:nvSpPr>
        <p:spPr>
          <a:xfrm>
            <a:off x="548640" y="1600200"/>
            <a:ext cx="7497720" cy="1005480"/>
          </a:xfrm>
          <a:prstGeom prst="roundRect">
            <a:avLst>
              <a:gd name="adj" fmla="val 7273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3"/>
          <p:cNvSpPr/>
          <p:nvPr/>
        </p:nvSpPr>
        <p:spPr>
          <a:xfrm>
            <a:off x="749880" y="169164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8b2ff7"/>
                </a:solidFill>
                <a:latin typeface="Arial"/>
                <a:ea typeface="Arial"/>
              </a:rPr>
              <a:t>Q1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4"/>
          <p:cNvSpPr/>
          <p:nvPr/>
        </p:nvSpPr>
        <p:spPr>
          <a:xfrm>
            <a:off x="1298520" y="1710000"/>
            <a:ext cx="6446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7cce8"/>
                </a:solidFill>
                <a:latin typeface="Calibri"/>
                <a:ea typeface="Calibri"/>
              </a:rPr>
              <a:t>"Your package couldn’t be delivered. Confirm your address within 2 hours: bit.ly/track-pkg99"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5"/>
          <p:cNvSpPr/>
          <p:nvPr/>
        </p:nvSpPr>
        <p:spPr>
          <a:xfrm>
            <a:off x="8412480" y="1892880"/>
            <a:ext cx="3245760" cy="42012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8412480" y="1892880"/>
            <a:ext cx="32457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Phishing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7"/>
          <p:cNvSpPr/>
          <p:nvPr/>
        </p:nvSpPr>
        <p:spPr>
          <a:xfrm>
            <a:off x="548640" y="2834640"/>
            <a:ext cx="7497720" cy="1005480"/>
          </a:xfrm>
          <a:prstGeom prst="roundRect">
            <a:avLst>
              <a:gd name="adj" fmla="val 7273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8"/>
          <p:cNvSpPr/>
          <p:nvPr/>
        </p:nvSpPr>
        <p:spPr>
          <a:xfrm>
            <a:off x="749880" y="292608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8b2ff7"/>
                </a:solidFill>
                <a:latin typeface="Arial"/>
                <a:ea typeface="Arial"/>
              </a:rPr>
              <a:t>Q2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9"/>
          <p:cNvSpPr/>
          <p:nvPr/>
        </p:nvSpPr>
        <p:spPr>
          <a:xfrm>
            <a:off x="1298520" y="2944440"/>
            <a:ext cx="6446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7cce8"/>
                </a:solidFill>
                <a:latin typeface="Calibri"/>
                <a:ea typeface="Calibri"/>
              </a:rPr>
              <a:t>An email from your manager, sent from their known company address, about tomorrow’s meeting agenda.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10"/>
          <p:cNvSpPr/>
          <p:nvPr/>
        </p:nvSpPr>
        <p:spPr>
          <a:xfrm>
            <a:off x="8412480" y="3127320"/>
            <a:ext cx="3245760" cy="420120"/>
          </a:xfrm>
          <a:prstGeom prst="roundRect">
            <a:avLst>
              <a:gd name="adj" fmla="val 50000"/>
            </a:avLst>
          </a:prstGeom>
          <a:solidFill>
            <a:srgbClr val="2ed8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1"/>
          <p:cNvSpPr/>
          <p:nvPr/>
        </p:nvSpPr>
        <p:spPr>
          <a:xfrm>
            <a:off x="8412480" y="3127320"/>
            <a:ext cx="32457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63d2e"/>
                </a:solidFill>
                <a:latin typeface="Calibri"/>
                <a:ea typeface="Calibri"/>
              </a:rPr>
              <a:t>Legitimate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12"/>
          <p:cNvSpPr/>
          <p:nvPr/>
        </p:nvSpPr>
        <p:spPr>
          <a:xfrm>
            <a:off x="548640" y="4069080"/>
            <a:ext cx="7497720" cy="1005480"/>
          </a:xfrm>
          <a:prstGeom prst="roundRect">
            <a:avLst>
              <a:gd name="adj" fmla="val 7273"/>
            </a:avLst>
          </a:prstGeom>
          <a:solidFill>
            <a:srgbClr val="12163a"/>
          </a:solidFill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13"/>
          <p:cNvSpPr/>
          <p:nvPr/>
        </p:nvSpPr>
        <p:spPr>
          <a:xfrm>
            <a:off x="749880" y="416052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8b2ff7"/>
                </a:solidFill>
                <a:latin typeface="Arial"/>
                <a:ea typeface="Arial"/>
              </a:rPr>
              <a:t>Q3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14"/>
          <p:cNvSpPr/>
          <p:nvPr/>
        </p:nvSpPr>
        <p:spPr>
          <a:xfrm>
            <a:off x="1298520" y="4178880"/>
            <a:ext cx="64461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7cce8"/>
                </a:solidFill>
                <a:latin typeface="Calibri"/>
                <a:ea typeface="Calibri"/>
              </a:rPr>
              <a:t>"IT Support: your password expires today. Login here to keep access: login-secure-portal.info"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15"/>
          <p:cNvSpPr/>
          <p:nvPr/>
        </p:nvSpPr>
        <p:spPr>
          <a:xfrm>
            <a:off x="8412480" y="4361760"/>
            <a:ext cx="3245760" cy="420120"/>
          </a:xfrm>
          <a:prstGeom prst="roundRect">
            <a:avLst>
              <a:gd name="adj" fmla="val 50000"/>
            </a:avLst>
          </a:prstGeom>
          <a:solidFill>
            <a:srgbClr val="ff2e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16"/>
          <p:cNvSpPr/>
          <p:nvPr/>
        </p:nvSpPr>
        <p:spPr>
          <a:xfrm>
            <a:off x="8412480" y="4361760"/>
            <a:ext cx="32457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Phishing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17"/>
          <p:cNvSpPr/>
          <p:nvPr/>
        </p:nvSpPr>
        <p:spPr>
          <a:xfrm>
            <a:off x="548640" y="5623560"/>
            <a:ext cx="11091600" cy="360"/>
          </a:xfrm>
          <a:prstGeom prst="line">
            <a:avLst/>
          </a:prstGeom>
          <a:ln w="12600">
            <a:solidFill>
              <a:srgbClr val="2a2f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18"/>
          <p:cNvSpPr/>
          <p:nvPr/>
        </p:nvSpPr>
        <p:spPr>
          <a:xfrm>
            <a:off x="548640" y="5806440"/>
            <a:ext cx="1109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Stay alert. Verify before you trust. Report what looks wrong.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9"/>
          <p:cNvSpPr/>
          <p:nvPr/>
        </p:nvSpPr>
        <p:spPr>
          <a:xfrm>
            <a:off x="548640" y="630936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a82b0"/>
                </a:solidFill>
                <a:latin typeface="Calibri"/>
                <a:ea typeface="Calibri"/>
              </a:rPr>
              <a:t>Thank you  —  CodeAlpha Task 2: Phishing Awareness Training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2026-08-09T13:03:38Z</dcterms:created>
  <dc:creator>PptxGenJS</dc:creator>
  <dc:description/>
  <dc:language>en-US</dc:language>
  <cp:lastModifiedBy/>
  <dcterms:modified xsi:type="dcterms:W3CDTF">2026-08-09T17:29:36Z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